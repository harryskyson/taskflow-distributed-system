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8" r:id="rId4"/>
    <p:sldMasterId id="214748369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Urbanist Medium"/>
      <p:regular r:id="rId34"/>
      <p:bold r:id="rId35"/>
      <p:italic r:id="rId36"/>
      <p:boldItalic r:id="rId37"/>
    </p:embeddedFont>
    <p:embeddedFont>
      <p:font typeface="Urbanist SemiBold"/>
      <p:regular r:id="rId38"/>
      <p:bold r:id="rId39"/>
      <p:italic r:id="rId40"/>
      <p:boldItalic r:id="rId41"/>
    </p:embeddedFont>
    <p:embeddedFont>
      <p:font typeface="Urbanis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13" Type="http://schemas.openxmlformats.org/officeDocument/2006/relationships/slide" Target="slides/slide7.xml"/><Relationship Id="rId39" Type="http://schemas.openxmlformats.org/officeDocument/2006/relationships/font" Target="fonts/UrbanistSemiBold-bold.fntdata"/><Relationship Id="rId18" Type="http://schemas.openxmlformats.org/officeDocument/2006/relationships/slide" Target="slides/slide12.xml"/><Relationship Id="rId42" Type="http://schemas.openxmlformats.org/officeDocument/2006/relationships/font" Target="fonts/Urbanist-regular.fntdata"/><Relationship Id="rId21" Type="http://schemas.openxmlformats.org/officeDocument/2006/relationships/slide" Target="slides/slide15.xml"/><Relationship Id="rId34" Type="http://schemas.openxmlformats.org/officeDocument/2006/relationships/font" Target="fonts/UrbanistMedium-regular.fntdata"/><Relationship Id="rId47" Type="http://schemas.openxmlformats.org/officeDocument/2006/relationships/customXml" Target="../customXml/item2.xml"/><Relationship Id="rId7" Type="http://schemas.openxmlformats.org/officeDocument/2006/relationships/slide" Target="slides/slide1.xml"/><Relationship Id="rId2" Type="http://schemas.openxmlformats.org/officeDocument/2006/relationships/viewProps" Target="viewProps.xml"/><Relationship Id="rId29" Type="http://schemas.openxmlformats.org/officeDocument/2006/relationships/slide" Target="slides/slide23.xml"/><Relationship Id="rId16" Type="http://schemas.openxmlformats.org/officeDocument/2006/relationships/slide" Target="slides/slide10.xml"/><Relationship Id="rId40" Type="http://schemas.openxmlformats.org/officeDocument/2006/relationships/font" Target="fonts/UrbanistSemiBold-italic.fntdata"/><Relationship Id="rId24" Type="http://schemas.openxmlformats.org/officeDocument/2006/relationships/slide" Target="slides/slide18.xml"/><Relationship Id="rId45" Type="http://schemas.openxmlformats.org/officeDocument/2006/relationships/font" Target="fonts/Urbanist-boldItalic.fntdata"/><Relationship Id="rId1" Type="http://schemas.openxmlformats.org/officeDocument/2006/relationships/theme" Target="theme/theme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37" Type="http://schemas.openxmlformats.org/officeDocument/2006/relationships/font" Target="fonts/UrbanistMedium-boldItalic.fntdata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36" Type="http://schemas.openxmlformats.org/officeDocument/2006/relationships/font" Target="fonts/UrbanistMedium-italic.fntdata"/><Relationship Id="rId44" Type="http://schemas.openxmlformats.org/officeDocument/2006/relationships/font" Target="fonts/Urbanist-italic.fntdata"/><Relationship Id="rId31" Type="http://schemas.openxmlformats.org/officeDocument/2006/relationships/slide" Target="slides/slide25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22" Type="http://schemas.openxmlformats.org/officeDocument/2006/relationships/slide" Target="slides/slide16.xml"/><Relationship Id="rId43" Type="http://schemas.openxmlformats.org/officeDocument/2006/relationships/font" Target="fonts/Urbanist-bold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font" Target="fonts/UrbanistMedium-bold.fntdata"/><Relationship Id="rId14" Type="http://schemas.openxmlformats.org/officeDocument/2006/relationships/slide" Target="slides/slide8.xml"/><Relationship Id="rId48" Type="http://schemas.openxmlformats.org/officeDocument/2006/relationships/customXml" Target="../customXml/item3.xml"/><Relationship Id="rId8" Type="http://schemas.openxmlformats.org/officeDocument/2006/relationships/slide" Target="slides/slide2.xml"/><Relationship Id="rId3" Type="http://schemas.openxmlformats.org/officeDocument/2006/relationships/presProps" Target="presProps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8" Type="http://schemas.openxmlformats.org/officeDocument/2006/relationships/font" Target="fonts/UrbanistSemiBold-regular.fntdata"/><Relationship Id="rId46" Type="http://schemas.openxmlformats.org/officeDocument/2006/relationships/customXml" Target="../customXml/item1.xml"/><Relationship Id="rId20" Type="http://schemas.openxmlformats.org/officeDocument/2006/relationships/slide" Target="slides/slide14.xml"/><Relationship Id="rId41" Type="http://schemas.openxmlformats.org/officeDocument/2006/relationships/font" Target="fonts/Urbanist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892b7d50f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892b7d50f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API – це невидимі двигуни, що живлять наш цифровий світ. Незалежно від того, чи ви замовляєте таксі, гортаєте соціальні мережі чи дивитеся улюблене шоу, за лаштунками API дозволяють програмам безперешкодно взаємодіяти один з одним. Але спосіб взаємодії цих систем кардинально змінився. Минули ті часи, коли REST був єдиною можливістю – сьогодні розробникам доводиться орієнтуватися в зростаючій екосистемі, яка включає GraphQL, gRPC, WebSockets. Кожен з них має свої сильні сторони, недоліки та найкращі сценарії. У цій статті ми розглянемо ці сучасні архітектури API, порівняємо їх безпосередньо та зрозуміємо як приймати рішення, яка з них підходить для вашого наступного проекту.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892b7d50f3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892b7d50f3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892b7d50f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892b7d50f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Внутрішня архітектура</a:t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" sz="14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Без збереження стану: кожен запит містить весь необхідний контекст. Немає сховища сеансів на стороні сервера. Запит GET /users не потребує попереднього стану.</a:t>
            </a:r>
            <a:endParaRPr sz="1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" sz="14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Ресурсно-орієнтований: кінцеві точки представляють ресурси (наприклад, /users). Все є ресурсом з унікальним URI. /users, /products/456</a:t>
            </a:r>
            <a:endParaRPr sz="1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" sz="14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HTTP-методи: операції CRUD, що відповідають GET, POST, PUT, DELETE.</a:t>
            </a:r>
            <a:endParaRPr sz="1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Коли використовувати:</a:t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" sz="14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Публічні API, що потребують простоти та широкої сумісності.</a:t>
            </a:r>
            <a:endParaRPr sz="1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Char char="●"/>
            </a:pPr>
            <a:r>
              <a:rPr lang="en" sz="14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Програми з високим навантаженням на CRUD (наприклад, блоги, електронна комерція).</a:t>
            </a:r>
            <a:endParaRPr sz="14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892b7d50f3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892b7d50f3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Використовує знайомі стандарти HTTP. Легко вивчати та впроваджувати. Перевірено в бойових умовах протягом понад 20 років. Надійний інструментарій (Swagger, Postman) та універсальна підтримка браузерів. Відсутність станів дозволяє горизонтальне масштабування (без закріплених сесій).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892b7d50f3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892b7d50f3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Слабкі сторони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Де «Старе Королівство» показує свій вік: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Надмірне завантаження: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Клієнти отримують непотрібні дані.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Приклад: Завантаження всього профілю користувача лише для отримання його імені.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GET /users/123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"id": 123,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"name": "Alice",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"address": "...", // Непотрібне клієнту!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"history": "..."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Недостатнє завантаження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Потрібно кілька циклів збору пов'язаних даних.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Приклад: Завантаження користувача, потім його замовлень, а потім деталей кожного замовлення.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Немає підтримки в режимі реального часу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Потрібне опитування для оновлень (немає вбудованої функції push/streaming).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892b7d50f3_0_9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892b7d50f3_0_9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892b7d50f3_0_9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892b7d50f3_0_9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REST залишається вхідною точкою до розробки API — надійним та універсальним, але не завжди найефективнішим для сучасних випадків використання.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892b7d50f3_0_10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892b7d50f3_0_1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3892b7d50f3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3892b7d50f3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892b7d50f3_0_10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3892b7d50f3_0_1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892b7d50f3_0_10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8" name="Google Shape;538;g3892b7d50f3_0_10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892b7d50f3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892b7d50f3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892b7d50f3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892b7d50f3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gRPC — це FedEx серед мікросервісів — неперевершений для термінових доставок великих обсягів між довіреними системами. Не для звичайної пошти (публічні API), але неперевершений у своїй галузі.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892b7d50f3_0_1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892b7d50f3_0_1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892b7d50f3_0_1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892b7d50f3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892b7d50f3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892b7d50f3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892b7d50f3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892b7d50f3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892b7d50f3_0_1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3892b7d50f3_0_1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892b7d50f3_0_1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892b7d50f3_0_1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WebSockets – це своєрідні «совині посланці» цифрового світу, ідеальні для термінових, тривалих розмов, але надмірні для простих листів. Використовуйте їх разом із Redis Pub/Sub або Kafka для великомасштабних систем реального часу.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Використовуйте, коли: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Вам потрібні оновлення в реальному часі (чат, сповіщення)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Клієнти повинні часто надсилати дані на сервери (наприклад, результати в реальному часі)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Уникайте, коли: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Достатньо простих операцій CRUD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Клієнти знаходяться за обмежувальними брандмауерами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892b7d50f3_0_1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892b7d50f3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892b7d50f3_0_1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892b7d50f3_0_1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3892b7d50f3_0_1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4" name="Google Shape;614;g3892b7d50f3_0_1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Об'єднує REST API, бази даних та сервіси в одній відповіді.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892b7d50f3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3892b7d50f3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Потрібне (проектування схеми, резольвери):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Традиційне кешування HTTP не працює (єдина кінцева точка, динамічні запити):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Погано оптимізовані резолвери запускають каскадні запити:</a:t>
            </a:r>
            <a:r>
              <a:rPr lang="en" sz="1050">
                <a:solidFill>
                  <a:srgbClr val="007400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# REST: Cache by URL (GET /users/123)</a:t>
            </a:r>
            <a:endParaRPr sz="1050">
              <a:solidFill>
                <a:srgbClr val="007400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7400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# GraphQL: Same endpoint for all requests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892b7d50f3_0_1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3892b7d50f3_0_1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892b7d50f3_0_1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892b7d50f3_0_1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GraphQL — це магія гнучкості даних — потужна, але вимоглива до майстерності. Використовуйте, коли точність важливіша за простоту.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892b7d50f3_0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892b7d50f3_0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3892b7d50f3_0_1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3892b7d50f3_0_1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4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64" name="Google Shape;64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5" name="Google Shape;75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77" name="Google Shape;77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4" name="Google Shape;84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86" name="Google Shape;86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6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2" name="Google Shape;92;p16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7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7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9" name="Google Shape;109;p18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18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18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13" name="Google Shape;113;p18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4" name="Google Shape;114;p18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5" name="Google Shape;115;p18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6" name="Google Shape;116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8" name="Google Shape;118;p18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3" name="Google Shape;123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4" name="Google Shape;124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26" name="Google Shape;126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" name="Google Shape;127;p19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9" name="Google Shape;129;p19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0" name="Google Shape;130;p19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1" name="Google Shape;131;p19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3" name="Google Shape;133;p19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9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19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43" name="Google Shape;143;p20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5" name="Google Shape;145;p20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6" name="Google Shape;146;p20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20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8" name="Google Shape;148;p20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49" name="Google Shape;149;p20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0" name="Google Shape;150;p20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1" name="Google Shape;151;p20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2" name="Google Shape;152;p20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3" name="Google Shape;153;p20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4" name="Google Shape;154;p20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5" name="Google Shape;155;p20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6" name="Google Shape;156;p20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7" name="Google Shape;157;p20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58" name="Google Shape;158;p20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59" name="Google Shape;159;p20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0" name="Google Shape;160;p20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1" name="Google Shape;161;p20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62" name="Google Shape;162;p20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63" name="Google Shape;163;p20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64" name="Google Shape;164;p2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21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70" name="Google Shape;170;p21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1" name="Google Shape;171;p21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2" name="Google Shape;172;p21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3" name="Google Shape;173;p21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74" name="Google Shape;174;p2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2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22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0" name="Google Shape;180;p22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81" name="Google Shape;181;p22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82" name="Google Shape;182;p22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83" name="Google Shape;183;p22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84" name="Google Shape;184;p22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22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86" name="Google Shape;186;p22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87" name="Google Shape;187;p22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22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22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0" name="Google Shape;190;p22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1" name="Google Shape;191;p22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22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22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4" name="Google Shape;194;p22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5" name="Google Shape;195;p22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6" name="Google Shape;196;p22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98" name="Google Shape;198;p22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99" name="Google Shape;199;p22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0" name="Google Shape;200;p22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202" name="Google Shape;202;p2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206" name="Google Shape;206;p23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7" name="Google Shape;207;p23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9" name="Google Shape;209;p2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1" name="Google Shape;211;p23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212" name="Google Shape;212;p2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3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3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5" name="Google Shape;215;p2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219" name="Google Shape;219;p24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220" name="Google Shape;220;p24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1" name="Google Shape;221;p24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2" name="Google Shape;222;p24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3" name="Google Shape;223;p24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4" name="Google Shape;224;p24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225" name="Google Shape;225;p2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6" name="Google Shape;226;p2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7" name="Google Shape;227;p2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25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25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2" name="Google Shape;232;p25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25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25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6" name="Google Shape;236;p25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25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25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9" name="Google Shape;239;p25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0" name="Google Shape;240;p25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1" name="Google Shape;241;p2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2" name="Google Shape;242;p25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243" name="Google Shape;243;p25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4" name="Google Shape;244;p25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5" name="Google Shape;245;p2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6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49" name="Google Shape;249;p26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2" name="Google Shape;252;p2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6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26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2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0" name="Google Shape;270;p2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2" name="Google Shape;272;p2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7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7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5" name="Google Shape;275;p27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6" name="Google Shape;276;p27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77" name="Google Shape;277;p27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78" name="Google Shape;278;p27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9" name="Google Shape;279;p27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0" name="Google Shape;280;p27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1" name="Google Shape;281;p27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27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3" name="Google Shape;283;p27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84" name="Google Shape;284;p27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27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27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2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8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1" name="Google Shape;291;p28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2" name="Google Shape;292;p2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5" name="Google Shape;295;p2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28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97" name="Google Shape;297;p28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8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1" name="Google Shape;301;p2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5" name="Google Shape;305;p2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6" name="Google Shape;306;p2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07" name="Google Shape;307;p2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09" name="Google Shape;309;p29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0" name="Google Shape;310;p29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1" name="Google Shape;311;p29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2" name="Google Shape;312;p29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9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4" name="Google Shape;314;p29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" name="Google Shape;315;p29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317" name="Google Shape;317;p29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9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29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0" name="Google Shape;320;p29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21" name="Google Shape;321;p29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29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29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4" name="Google Shape;324;p29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5" name="Google Shape;325;p29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6" name="Google Shape;326;p29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29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8" name="Google Shape;328;p29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9" name="Google Shape;329;p29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29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31" name="Google Shape;331;p2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5" name="Google Shape;335;p30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6" name="Google Shape;336;p30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37" name="Google Shape;337;p30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38" name="Google Shape;338;p30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9" name="Google Shape;339;p30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40" name="Google Shape;340;p30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1" name="Google Shape;341;p30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2" name="Google Shape;342;p30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43" name="Google Shape;343;p3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" name="Google Shape;344;p30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5" name="Google Shape;345;p30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6" name="Google Shape;346;p30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7" name="Google Shape;347;p30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8" name="Google Shape;348;p30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49" name="Google Shape;349;p30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0" name="Google Shape;350;p30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1" name="Google Shape;351;p30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2" name="Google Shape;352;p30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53" name="Google Shape;353;p30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54" name="Google Shape;354;p30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5" name="Google Shape;355;p30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6" name="Google Shape;356;p30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7" name="Google Shape;357;p30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58" name="Google Shape;358;p30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59" name="Google Shape;359;p3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1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3" name="Google Shape;363;p31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4" name="Google Shape;364;p31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65" name="Google Shape;365;p3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3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68" name="Google Shape;368;p31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31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0" name="Google Shape;370;p31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1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2" name="Google Shape;372;p31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73" name="Google Shape;373;p31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74" name="Google Shape;374;p31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5" name="Google Shape;375;p31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6" name="Google Shape;376;p31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7" name="Google Shape;377;p31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0" name="Google Shape;380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8" name="Google Shape;38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9" name="Google Shape;38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9" name="Google Shape;399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0" name="Google Shape;400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5" name="Google Shape;405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9" name="Google Shape;409;p4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8" name="Google Shape;418;p4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1" name="Google Shape;421;p4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4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7" name="Google Shape;427;p4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8" name="Google Shape;428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9" name="Google Shape;429;p4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0" name="Google Shape;430;p4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5" name="Google Shape;435;p4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6" name="Google Shape;436;p4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4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8" name="Google Shape;438;p4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4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0" name="Google Shape;440;p4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5" name="Google Shape;445;p4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8" name="Google Shape;448;p4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1" name="Google Shape;45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2" name="Google Shape;452;p4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3" name="Google Shape;453;p4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6" name="Google Shape;456;p5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59" name="Google Shape;459;p5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61" name="Google Shape;46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2" name="Google Shape;462;p5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3" name="Google Shape;463;p5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5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75" name="Google Shape;475;p5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6" name="Google Shape;476;p5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pi.example.com/users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3"/>
          <p:cNvSpPr txBox="1"/>
          <p:nvPr>
            <p:ph type="title"/>
          </p:nvPr>
        </p:nvSpPr>
        <p:spPr>
          <a:xfrm>
            <a:off x="228600" y="228600"/>
            <a:ext cx="6658800" cy="295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REST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gRPC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WebSockets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>
                <a:solidFill>
                  <a:schemeClr val="lt1"/>
                </a:solidFill>
              </a:rPr>
              <a:t>GraphQL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4"/>
          <p:cNvSpPr txBox="1"/>
          <p:nvPr>
            <p:ph type="title"/>
          </p:nvPr>
        </p:nvSpPr>
        <p:spPr>
          <a:xfrm>
            <a:off x="228600" y="689725"/>
            <a:ext cx="82140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REST (Representational State Transfer)</a:t>
            </a:r>
            <a:endParaRPr/>
          </a:p>
        </p:txBody>
      </p:sp>
      <p:sp>
        <p:nvSpPr>
          <p:cNvPr id="488" name="Google Shape;488;p54"/>
          <p:cNvSpPr txBox="1"/>
          <p:nvPr>
            <p:ph idx="1" type="body"/>
          </p:nvPr>
        </p:nvSpPr>
        <p:spPr>
          <a:xfrm>
            <a:off x="228600" y="1553050"/>
            <a:ext cx="3796800" cy="30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2"/>
                </a:solidFill>
              </a:rPr>
              <a:t>Архітектурний стиль для проектування мережевих застосунків за допомогою HTTP, </a:t>
            </a:r>
            <a:r>
              <a:rPr lang="en" sz="1200">
                <a:solidFill>
                  <a:schemeClr val="dk2"/>
                </a:solidFill>
              </a:rPr>
              <a:t>представлений у 2000 році Роєм Філдінгом</a:t>
            </a:r>
            <a:r>
              <a:rPr lang="en" sz="1200">
                <a:solidFill>
                  <a:schemeClr val="dk2"/>
                </a:solidFill>
              </a:rPr>
              <a:t>. Засновано на безумовному зв'язку клієнт-сервер зі стандартними методами (GET, POST, PUT, DELETE).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2"/>
                </a:solidFill>
              </a:rPr>
              <a:t>Він використовує HTTP як основу та організовує взаємодію навколо ресурсів (наприклад, користувачів, продуктів), ідентифікованих за допомогою URI (наприклад, /users/123).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5"/>
          <p:cNvSpPr txBox="1"/>
          <p:nvPr>
            <p:ph idx="1" type="body"/>
          </p:nvPr>
        </p:nvSpPr>
        <p:spPr>
          <a:xfrm>
            <a:off x="228600" y="367700"/>
            <a:ext cx="6868800" cy="414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800">
                <a:solidFill>
                  <a:schemeClr val="dk2"/>
                </a:solidFill>
              </a:rPr>
              <a:t>Внутрішня архітектура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Без збереження стану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Ресурсно-орієнтований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HTTP-методи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800">
                <a:solidFill>
                  <a:schemeClr val="dk2"/>
                </a:solidFill>
              </a:rPr>
              <a:t>Коли використовувати</a:t>
            </a:r>
            <a:endParaRPr b="1"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8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Публічні API, що потребують простоти та широкої сумісності.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</a:pPr>
            <a:r>
              <a:rPr lang="en" sz="1200">
                <a:solidFill>
                  <a:schemeClr val="dk2"/>
                </a:solidFill>
              </a:rPr>
              <a:t>Програми з високим навантаженням на CRUD (наприклад, блоги, електронна комерція).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6"/>
          <p:cNvSpPr txBox="1"/>
          <p:nvPr>
            <p:ph type="title"/>
          </p:nvPr>
        </p:nvSpPr>
        <p:spPr>
          <a:xfrm>
            <a:off x="228600" y="689725"/>
            <a:ext cx="3848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Сильні сторони</a:t>
            </a:r>
            <a:endParaRPr/>
          </a:p>
        </p:txBody>
      </p:sp>
      <p:sp>
        <p:nvSpPr>
          <p:cNvPr id="499" name="Google Shape;499;p56"/>
          <p:cNvSpPr txBox="1"/>
          <p:nvPr>
            <p:ph idx="1" type="body"/>
          </p:nvPr>
        </p:nvSpPr>
        <p:spPr>
          <a:xfrm>
            <a:off x="228600" y="1243400"/>
            <a:ext cx="5016000" cy="26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200">
                <a:solidFill>
                  <a:schemeClr val="dk2"/>
                </a:solidFill>
              </a:rPr>
              <a:t>Простота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2"/>
                </a:solidFill>
              </a:rPr>
              <a:t>curl -X GET</a:t>
            </a:r>
            <a:r>
              <a:rPr lang="en" sz="1200"/>
              <a:t> </a:t>
            </a:r>
            <a:r>
              <a:rPr lang="en" sz="1200" u="sng">
                <a:hlinkClick r:id="rId3"/>
              </a:rPr>
              <a:t>https://api.example.com/users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200">
                <a:solidFill>
                  <a:schemeClr val="dk2"/>
                </a:solidFill>
              </a:rPr>
              <a:t>Зрілість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" sz="1200">
                <a:solidFill>
                  <a:schemeClr val="dk2"/>
                </a:solidFill>
              </a:rPr>
              <a:t>Масштабованість</a:t>
            </a:r>
            <a:endParaRPr b="1"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7"/>
          <p:cNvSpPr txBox="1"/>
          <p:nvPr>
            <p:ph type="title"/>
          </p:nvPr>
        </p:nvSpPr>
        <p:spPr>
          <a:xfrm>
            <a:off x="228600" y="689725"/>
            <a:ext cx="3848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Слабкі сторони</a:t>
            </a:r>
            <a:endParaRPr/>
          </a:p>
        </p:txBody>
      </p:sp>
      <p:sp>
        <p:nvSpPr>
          <p:cNvPr id="505" name="Google Shape;505;p57"/>
          <p:cNvSpPr txBox="1"/>
          <p:nvPr>
            <p:ph idx="1" type="body"/>
          </p:nvPr>
        </p:nvSpPr>
        <p:spPr>
          <a:xfrm>
            <a:off x="228600" y="1513150"/>
            <a:ext cx="3798300" cy="240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2"/>
                </a:solidFill>
              </a:rPr>
              <a:t>Надмірне завантаження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2"/>
                </a:solidFill>
              </a:rPr>
              <a:t>Недостатнє завантаження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2"/>
                </a:solidFill>
              </a:rPr>
              <a:t>Немає підтримки в режимі реального часу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58"/>
          <p:cNvSpPr txBox="1"/>
          <p:nvPr>
            <p:ph type="title"/>
          </p:nvPr>
        </p:nvSpPr>
        <p:spPr>
          <a:xfrm>
            <a:off x="228600" y="689725"/>
            <a:ext cx="5852100" cy="2669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endParaRPr sz="13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3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3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"net/http"</a:t>
            </a:r>
            <a:endParaRPr sz="1350">
              <a:solidFill>
                <a:srgbClr val="C41A16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3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"fmt"</a:t>
            </a:r>
            <a:endParaRPr sz="1350">
              <a:solidFill>
                <a:srgbClr val="C41A16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getUsers</a:t>
            </a:r>
            <a:r>
              <a:rPr lang="en" sz="13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(w http.ResponseWriter, r *http.Request)</a:t>
            </a: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fmt.Fprintf(w, </a:t>
            </a:r>
            <a:r>
              <a:rPr lang="en" sz="13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`[{"id": 1, "name": "Alice"}]`</a:t>
            </a: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3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3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3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http.HandleFunc(</a:t>
            </a:r>
            <a:r>
              <a:rPr lang="en" sz="13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"/users"</a:t>
            </a: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 getUsers)</a:t>
            </a:r>
            <a:endParaRPr sz="13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http.ListenAndServe(</a:t>
            </a:r>
            <a:r>
              <a:rPr lang="en" sz="13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":8080"</a:t>
            </a: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3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3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3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925" y="163213"/>
            <a:ext cx="7035075" cy="481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0"/>
          <p:cNvSpPr txBox="1"/>
          <p:nvPr>
            <p:ph type="title"/>
          </p:nvPr>
        </p:nvSpPr>
        <p:spPr>
          <a:xfrm>
            <a:off x="228600" y="613525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gRPC — The Binary Messenger</a:t>
            </a:r>
            <a:endParaRPr/>
          </a:p>
        </p:txBody>
      </p:sp>
      <p:sp>
        <p:nvSpPr>
          <p:cNvPr id="521" name="Google Shape;521;p60"/>
          <p:cNvSpPr txBox="1"/>
          <p:nvPr>
            <p:ph idx="1" type="body"/>
          </p:nvPr>
        </p:nvSpPr>
        <p:spPr>
          <a:xfrm>
            <a:off x="233850" y="1845775"/>
            <a:ext cx="3506400" cy="25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Високопродуктивний фреймворк RPC, що використовує HTTP/2 та буфери протоколів (бінарна серіалізація). Високошвидкісна кур'єрська система для мікросервісів, що використовує компактні бінарні конверти (буфери протоколів) та експрес-маршрути (HTTP/2). Ось її протокол відправлення: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1"/>
          <p:cNvSpPr txBox="1"/>
          <p:nvPr>
            <p:ph type="title"/>
          </p:nvPr>
        </p:nvSpPr>
        <p:spPr>
          <a:xfrm>
            <a:off x="228600" y="613525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Внутрішня архітектура</a:t>
            </a:r>
            <a:endParaRPr/>
          </a:p>
        </p:txBody>
      </p:sp>
      <p:sp>
        <p:nvSpPr>
          <p:cNvPr id="527" name="Google Shape;527;p61"/>
          <p:cNvSpPr txBox="1"/>
          <p:nvPr>
            <p:ph idx="1" type="body"/>
          </p:nvPr>
        </p:nvSpPr>
        <p:spPr>
          <a:xfrm>
            <a:off x="233850" y="1845775"/>
            <a:ext cx="4263000" cy="25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Буфери протоколів: Визначають служби та повідомлення у файлах .proto.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HTTP/2: Забезпечує мультиплексування, потокову передачу та стиснення заголовків.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Генерація коду: Генерує клієнт-серверний код з .proto.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Генерує клієнт-серверний код більш ніж 11 мовами програмування (Go, Python, Java тощо).</a:t>
            </a:r>
            <a:endParaRPr sz="1200"/>
          </a:p>
        </p:txBody>
      </p:sp>
      <p:sp>
        <p:nvSpPr>
          <p:cNvPr id="528" name="Google Shape;528;p61"/>
          <p:cNvSpPr txBox="1"/>
          <p:nvPr>
            <p:ph type="title"/>
          </p:nvPr>
        </p:nvSpPr>
        <p:spPr>
          <a:xfrm>
            <a:off x="4767850" y="613525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Коли використовувати</a:t>
            </a:r>
            <a:endParaRPr/>
          </a:p>
        </p:txBody>
      </p:sp>
      <p:sp>
        <p:nvSpPr>
          <p:cNvPr id="529" name="Google Shape;529;p61"/>
          <p:cNvSpPr txBox="1"/>
          <p:nvPr/>
        </p:nvSpPr>
        <p:spPr>
          <a:xfrm>
            <a:off x="4759100" y="1763300"/>
            <a:ext cx="37341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Мікросервісний зв'язок, що вимагає низької затримки.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Двонаправлена ​​потокова передача (наприклад, аналітика в режимі реального часу).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62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Переваги</a:t>
            </a:r>
            <a:endParaRPr/>
          </a:p>
        </p:txBody>
      </p:sp>
      <p:sp>
        <p:nvSpPr>
          <p:cNvPr id="535" name="Google Shape;535;p62"/>
          <p:cNvSpPr txBox="1"/>
          <p:nvPr/>
        </p:nvSpPr>
        <p:spPr>
          <a:xfrm>
            <a:off x="262350" y="1580275"/>
            <a:ext cx="43566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Швидкість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Суворі контракти.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-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Файли .proto запобігають розбіжностям API між командами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Мовні мости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Сервіси Go безперешкодно взаємодіють з аналогами на Python/C#/Rust.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63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Недоліки</a:t>
            </a:r>
            <a:endParaRPr/>
          </a:p>
        </p:txBody>
      </p:sp>
      <p:sp>
        <p:nvSpPr>
          <p:cNvPr id="541" name="Google Shape;541;p63"/>
          <p:cNvSpPr txBox="1"/>
          <p:nvPr/>
        </p:nvSpPr>
        <p:spPr>
          <a:xfrm>
            <a:off x="262350" y="1580275"/>
            <a:ext cx="43566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Немає зрозумілого для людини дебагінгу без додаткових інструментів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Крута крива навчання для HTTP/2, Protobuf, Codegen.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Для використання фронтенду потрібен проксі-сервер (gRPC-Web)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2" name="Google Shape;542;p63"/>
          <p:cNvSpPr txBox="1"/>
          <p:nvPr/>
        </p:nvSpPr>
        <p:spPr>
          <a:xfrm>
            <a:off x="4396925" y="1476550"/>
            <a:ext cx="5112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#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REST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(readable): {"id":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"123"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"amount"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100.50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# gRPC (hexdump):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03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31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32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33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11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a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99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99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59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64"/>
          <p:cNvSpPr txBox="1"/>
          <p:nvPr/>
        </p:nvSpPr>
        <p:spPr>
          <a:xfrm>
            <a:off x="3465600" y="228600"/>
            <a:ext cx="4881300" cy="13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proto/user.proto: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syntax = "proto3";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service UserService {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 rpc GetUser (UserRequest) returns (UserResponse);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}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message UserRequest { int32 id = 1; }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message UserResponse { int32 id = 1; string name = 2; }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8" name="Google Shape;548;p64"/>
          <p:cNvSpPr txBox="1"/>
          <p:nvPr/>
        </p:nvSpPr>
        <p:spPr>
          <a:xfrm>
            <a:off x="894900" y="1533000"/>
            <a:ext cx="82491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"context"</a:t>
            </a:r>
            <a:endParaRPr sz="1050">
              <a:solidFill>
                <a:srgbClr val="C41A16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"net"</a:t>
            </a:r>
            <a:endParaRPr sz="1050">
              <a:solidFill>
                <a:srgbClr val="C41A16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"google.golang.org/grpc"</a:t>
            </a:r>
            <a:endParaRPr sz="1050">
              <a:solidFill>
                <a:srgbClr val="C41A16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pb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"path/to/proto"</a:t>
            </a:r>
            <a:endParaRPr sz="1050">
              <a:solidFill>
                <a:srgbClr val="C41A16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server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{ pb.UnimplementedUserServiceServer }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(s *server)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GetUser(ctx context.Context, req *pb.UserRequest) (*pb.UserResponse, 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&amp;pb.UserResponse{Id: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 Name: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},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endParaRPr sz="10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lis, _ := net.Listen(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"tcp"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":8080"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s := grpc.NewServer()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pb.RegisterUserServiceServer(s, &amp;server{})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s.Serve(lis)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65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65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65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65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65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65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9" name="Google Shape;559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1217"/>
            <a:ext cx="9144000" cy="32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6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WebSockets</a:t>
            </a:r>
            <a:endParaRPr/>
          </a:p>
        </p:txBody>
      </p:sp>
      <p:sp>
        <p:nvSpPr>
          <p:cNvPr id="565" name="Google Shape;565;p66"/>
          <p:cNvSpPr txBox="1"/>
          <p:nvPr/>
        </p:nvSpPr>
        <p:spPr>
          <a:xfrm>
            <a:off x="262350" y="1580275"/>
            <a:ext cx="43566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Постійний повнодуплексний протокол зв'язку через TCP. На відміну від «поштової служби» REST (запит → очікування → відповідь), він створює зв'язок, де будь-яка сторона може надсилати повідомлення в будь-який час. Протокол, що забезпечує повнодуплексний зв'язок через одне TCP-з'єднання.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67"/>
          <p:cNvSpPr txBox="1"/>
          <p:nvPr>
            <p:ph type="title"/>
          </p:nvPr>
        </p:nvSpPr>
        <p:spPr>
          <a:xfrm>
            <a:off x="228600" y="613525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Внутрішня архітектура</a:t>
            </a:r>
            <a:endParaRPr/>
          </a:p>
        </p:txBody>
      </p:sp>
      <p:sp>
        <p:nvSpPr>
          <p:cNvPr id="571" name="Google Shape;571;p67"/>
          <p:cNvSpPr txBox="1"/>
          <p:nvPr>
            <p:ph idx="1" type="body"/>
          </p:nvPr>
        </p:nvSpPr>
        <p:spPr>
          <a:xfrm>
            <a:off x="233850" y="1845775"/>
            <a:ext cx="4263000" cy="259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Постійне з'єднання</a:t>
            </a:r>
            <a:r>
              <a:rPr lang="en" sz="1200"/>
              <a:t>: Оновлено з HTTP через заголовок websocket Upgrade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Фреймінг</a:t>
            </a:r>
            <a:r>
              <a:rPr lang="en" sz="1200"/>
              <a:t>: Повідомлення надсилаються у вигляді фреймів (текстових/двійкових). Після встановлення з'єднання залишається відкритим для вільного потоку повідомлень.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72" name="Google Shape;572;p67"/>
          <p:cNvSpPr txBox="1"/>
          <p:nvPr>
            <p:ph type="title"/>
          </p:nvPr>
        </p:nvSpPr>
        <p:spPr>
          <a:xfrm>
            <a:off x="4767850" y="613525"/>
            <a:ext cx="39045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Коли використовувати</a:t>
            </a:r>
            <a:endParaRPr/>
          </a:p>
        </p:txBody>
      </p:sp>
      <p:sp>
        <p:nvSpPr>
          <p:cNvPr id="573" name="Google Shape;573;p67"/>
          <p:cNvSpPr txBox="1"/>
          <p:nvPr/>
        </p:nvSpPr>
        <p:spPr>
          <a:xfrm>
            <a:off x="4759100" y="1763300"/>
            <a:ext cx="3734100" cy="23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Чат-додатки: Миттєва доставка повідомлень.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Багатокористувацька гра: Синхронізовані рухи гравців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Панелі керування в реальному часі: Біржові тікери, аналітика в реальному часі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Інструменти для співпраці: Редагування в реальному часі в стилі Google Docs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68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Переваги</a:t>
            </a:r>
            <a:endParaRPr/>
          </a:p>
        </p:txBody>
      </p:sp>
      <p:sp>
        <p:nvSpPr>
          <p:cNvPr id="579" name="Google Shape;579;p68"/>
          <p:cNvSpPr txBox="1"/>
          <p:nvPr/>
        </p:nvSpPr>
        <p:spPr>
          <a:xfrm>
            <a:off x="262350" y="1580275"/>
            <a:ext cx="43566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Real-time: Миттєвий двосторонній зв'язок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Ефективність: Відсутність HTTP-витрат після встановлення зв'язку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Низька затримка: 1–2 мс туди-сюди порівняно з 50 мс+ для HTTP-опитування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Підтримка бінарних файлів: Надсилання зображень, аудіо або користувацьких протоколів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80" name="Google Shape;580;p68"/>
          <p:cNvSpPr txBox="1"/>
          <p:nvPr/>
        </p:nvSpPr>
        <p:spPr>
          <a:xfrm>
            <a:off x="4795725" y="1560600"/>
            <a:ext cx="4094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socket.send(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"Hello!"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socket.onmessage = (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 =&gt; console.log(e.data);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69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Недоліки</a:t>
            </a:r>
            <a:endParaRPr/>
          </a:p>
        </p:txBody>
      </p:sp>
      <p:sp>
        <p:nvSpPr>
          <p:cNvPr id="586" name="Google Shape;586;p69"/>
          <p:cNvSpPr txBox="1"/>
          <p:nvPr/>
        </p:nvSpPr>
        <p:spPr>
          <a:xfrm>
            <a:off x="262350" y="1580275"/>
            <a:ext cx="43566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Перевантаження з’єднань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понад 10 тис. відкритих з’єднань навантажують сервери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Складність контролю стану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на відміну від REST, необхідно керувати станом з’єднання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Пастки брандмауера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деякі проксі-сервери блокують трафік WebSocket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Немає вбудованих повторних спроб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 розірвані з’єднання потребують ручного відновлення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70"/>
          <p:cNvSpPr txBox="1"/>
          <p:nvPr/>
        </p:nvSpPr>
        <p:spPr>
          <a:xfrm>
            <a:off x="262350" y="482000"/>
            <a:ext cx="7248600" cy="3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package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main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"github.com/gorilla/websocket"</a:t>
            </a:r>
            <a:endParaRPr sz="1050">
              <a:solidFill>
                <a:srgbClr val="C41A16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"net/http"</a:t>
            </a:r>
            <a:endParaRPr sz="1050">
              <a:solidFill>
                <a:srgbClr val="C41A16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upgrader = websocket.Upgrader{}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handler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(w http.ResponseWriter, r *http.Request)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conn, _ := upgrader.Upgrade(w, r,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defer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conn.Close()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_, msg, _ := conn.ReadMessage()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conn.WriteMessage(websocket.TextMessage, []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byte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"Echo: 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+ 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(msg)))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http.HandleFunc(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"/ws"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 handler)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http.ListenAndServe(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":8080"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600" y="152400"/>
            <a:ext cx="4772416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2"/>
          <p:cNvSpPr txBox="1"/>
          <p:nvPr>
            <p:ph type="title"/>
          </p:nvPr>
        </p:nvSpPr>
        <p:spPr>
          <a:xfrm>
            <a:off x="228600" y="689725"/>
            <a:ext cx="3848400" cy="88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GraphQL — The Query Mage</a:t>
            </a:r>
            <a:endParaRPr/>
          </a:p>
        </p:txBody>
      </p:sp>
      <p:sp>
        <p:nvSpPr>
          <p:cNvPr id="602" name="Google Shape;602;p72"/>
          <p:cNvSpPr txBox="1"/>
          <p:nvPr>
            <p:ph idx="1" type="body"/>
          </p:nvPr>
        </p:nvSpPr>
        <p:spPr>
          <a:xfrm>
            <a:off x="228600" y="1769425"/>
            <a:ext cx="4048500" cy="21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1200">
                <a:solidFill>
                  <a:schemeClr val="dk2"/>
                </a:solidFill>
              </a:rPr>
              <a:t>Мова запитів для API, створена Facebook у 2012 році, яка дозволяє клієнтам отримувати саме ті дані, які їм потрібні. На відміну від фіксованих кінцевих точок REST, вона дозволяє клієнтам: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Створювати точні запити («Дайте мені лише імена та електронні адреси»)</a:t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Об’єднувати дані з кількох джерел в одному запиті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03" name="Google Shape;603;p72"/>
          <p:cNvSpPr txBox="1"/>
          <p:nvPr/>
        </p:nvSpPr>
        <p:spPr>
          <a:xfrm>
            <a:off x="5015375" y="1752150"/>
            <a:ext cx="3000000" cy="19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query</a:t>
            </a: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2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user(</a:t>
            </a:r>
            <a:r>
              <a:rPr lang="en" sz="12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"123"</a:t>
            </a: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name</a:t>
            </a:r>
            <a:endParaRPr sz="12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email</a:t>
            </a:r>
            <a:endParaRPr sz="12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posts(</a:t>
            </a:r>
            <a:r>
              <a:rPr lang="en" sz="12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limit</a:t>
            </a: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2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2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title</a:t>
            </a:r>
            <a:endParaRPr sz="12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3"/>
          <p:cNvSpPr txBox="1"/>
          <p:nvPr>
            <p:ph type="title"/>
          </p:nvPr>
        </p:nvSpPr>
        <p:spPr>
          <a:xfrm>
            <a:off x="228600" y="689725"/>
            <a:ext cx="3848400" cy="88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Внутрішня архітектура</a:t>
            </a:r>
            <a:endParaRPr/>
          </a:p>
        </p:txBody>
      </p:sp>
      <p:sp>
        <p:nvSpPr>
          <p:cNvPr id="609" name="Google Shape;609;p73"/>
          <p:cNvSpPr txBox="1"/>
          <p:nvPr>
            <p:ph idx="1" type="body"/>
          </p:nvPr>
        </p:nvSpPr>
        <p:spPr>
          <a:xfrm>
            <a:off x="228600" y="1769425"/>
            <a:ext cx="4390200" cy="268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Єдиний endpoint: Клієнти надсилають запити POST до /graphql.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Схема: Визначає типи та операції (запити/мутації).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Резолвери: Отримують дані для кожного поля в запиті.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Гнучкість запитів: Клієнти визначають структуру відповіді.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Контроль клієнта: Фронтенд-команди диктують потреби в даних.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10" name="Google Shape;610;p73"/>
          <p:cNvSpPr txBox="1"/>
          <p:nvPr>
            <p:ph type="title"/>
          </p:nvPr>
        </p:nvSpPr>
        <p:spPr>
          <a:xfrm>
            <a:off x="4753025" y="689725"/>
            <a:ext cx="3848400" cy="889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Коли використовувати</a:t>
            </a:r>
            <a:endParaRPr/>
          </a:p>
        </p:txBody>
      </p:sp>
      <p:sp>
        <p:nvSpPr>
          <p:cNvPr id="611" name="Google Shape;611;p73"/>
          <p:cNvSpPr txBox="1"/>
          <p:nvPr/>
        </p:nvSpPr>
        <p:spPr>
          <a:xfrm>
            <a:off x="4984875" y="1946350"/>
            <a:ext cx="3392400" cy="20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Клієнти з різними вимогами до даних (наприклад, мобільні пристрої та комп’ютери).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Агрегування даних з кількох джерел.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74"/>
          <p:cNvSpPr txBox="1"/>
          <p:nvPr>
            <p:ph type="title"/>
          </p:nvPr>
        </p:nvSpPr>
        <p:spPr>
          <a:xfrm>
            <a:off x="228600" y="689725"/>
            <a:ext cx="3848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Переваги</a:t>
            </a:r>
            <a:endParaRPr/>
          </a:p>
        </p:txBody>
      </p:sp>
      <p:sp>
        <p:nvSpPr>
          <p:cNvPr id="617" name="Google Shape;617;p74"/>
          <p:cNvSpPr txBox="1"/>
          <p:nvPr>
            <p:ph idx="1" type="body"/>
          </p:nvPr>
        </p:nvSpPr>
        <p:spPr>
          <a:xfrm>
            <a:off x="228600" y="1769425"/>
            <a:ext cx="4048500" cy="21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Точне отримання даних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Чітка типізація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Агрегація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18" name="Google Shape;618;p74"/>
          <p:cNvSpPr txBox="1"/>
          <p:nvPr/>
        </p:nvSpPr>
        <p:spPr>
          <a:xfrm>
            <a:off x="4649300" y="495250"/>
            <a:ext cx="37584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# REST equivalent: GET /users/123 (returns ALL fields)</a:t>
            </a:r>
            <a:endParaRPr sz="12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# GraphQL:</a:t>
            </a:r>
            <a:endParaRPr sz="12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query {</a:t>
            </a:r>
            <a:endParaRPr sz="12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user(id: "123") {</a:t>
            </a:r>
            <a:endParaRPr sz="12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name</a:t>
            </a:r>
            <a:endParaRPr sz="12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19" name="Google Shape;619;p74"/>
          <p:cNvSpPr txBox="1"/>
          <p:nvPr/>
        </p:nvSpPr>
        <p:spPr>
          <a:xfrm>
            <a:off x="4649300" y="2526025"/>
            <a:ext cx="30000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User 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id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ID!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String!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email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String </a:t>
            </a:r>
            <a:r>
              <a:rPr lang="en" sz="1050">
                <a:solidFill>
                  <a:srgbClr val="643820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@deprecated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reason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"Use login instead"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75"/>
          <p:cNvSpPr txBox="1"/>
          <p:nvPr>
            <p:ph type="title"/>
          </p:nvPr>
        </p:nvSpPr>
        <p:spPr>
          <a:xfrm>
            <a:off x="228600" y="689725"/>
            <a:ext cx="3848400" cy="44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Недоліки</a:t>
            </a:r>
            <a:endParaRPr/>
          </a:p>
        </p:txBody>
      </p:sp>
      <p:sp>
        <p:nvSpPr>
          <p:cNvPr id="625" name="Google Shape;625;p75"/>
          <p:cNvSpPr txBox="1"/>
          <p:nvPr>
            <p:ph idx="1" type="body"/>
          </p:nvPr>
        </p:nvSpPr>
        <p:spPr>
          <a:xfrm>
            <a:off x="228600" y="1769425"/>
            <a:ext cx="4048500" cy="214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Складність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Кешування</a:t>
            </a:r>
            <a:endParaRPr sz="1200">
              <a:solidFill>
                <a:schemeClr val="dk2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-"/>
            </a:pPr>
            <a:r>
              <a:rPr lang="en" sz="1200">
                <a:solidFill>
                  <a:schemeClr val="dk2"/>
                </a:solidFill>
              </a:rPr>
              <a:t>Проблема N+1</a:t>
            </a:r>
            <a:endParaRPr sz="1200">
              <a:solidFill>
                <a:schemeClr val="dk2"/>
              </a:solidFill>
            </a:endParaRPr>
          </a:p>
        </p:txBody>
      </p:sp>
      <p:sp>
        <p:nvSpPr>
          <p:cNvPr id="626" name="Google Shape;626;p75"/>
          <p:cNvSpPr txBox="1"/>
          <p:nvPr/>
        </p:nvSpPr>
        <p:spPr>
          <a:xfrm>
            <a:off x="4167275" y="835900"/>
            <a:ext cx="3618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7400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# REST: Cache by URL (GET /users/123)</a:t>
            </a:r>
            <a:endParaRPr sz="1050">
              <a:solidFill>
                <a:srgbClr val="007400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07400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# GraphQL: Same endpoint for all requests</a:t>
            </a:r>
            <a:endParaRPr/>
          </a:p>
        </p:txBody>
      </p:sp>
      <p:sp>
        <p:nvSpPr>
          <p:cNvPr id="627" name="Google Shape;627;p75"/>
          <p:cNvSpPr txBox="1"/>
          <p:nvPr/>
        </p:nvSpPr>
        <p:spPr>
          <a:xfrm>
            <a:off x="4077000" y="2349050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User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→ (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posts) →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Each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post → (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fetch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comments) → ...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6"/>
          <p:cNvSpPr txBox="1"/>
          <p:nvPr/>
        </p:nvSpPr>
        <p:spPr>
          <a:xfrm>
            <a:off x="0" y="0"/>
            <a:ext cx="9144000" cy="4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userType = graphql.NewObject(graphql.ObjectConfig{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Name: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"User"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Fields: graphql.Fields{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&amp;graphql.Field{Type: graphql.Int},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&amp;graphql.Field{Type: graphql.String},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var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queryType = graphql.NewObject(graphql.ObjectConfig{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Name: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"Query"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Fields: graphql.Fields{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"users"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&amp;graphql.Field{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Type: graphql.NewList(userType),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Resolve: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(p graphql.ResolveParams)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{}, 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error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[]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map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interface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{}{{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"Alice"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}},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endParaRPr sz="1050">
              <a:solidFill>
                <a:srgbClr val="AA0D91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},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    },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func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1C00CF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main</a:t>
            </a:r>
            <a:r>
              <a:rPr lang="en" sz="1050">
                <a:solidFill>
                  <a:srgbClr val="5C2699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schema, _ := graphql.NewSchema(graphql.SchemaConfig{Query: queryType})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h := handler.New(&amp;handler.Config{Schema: &amp;schema})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http.Handle(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"/graphql"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 h)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   http.ListenAndServe(</a:t>
            </a:r>
            <a:r>
              <a:rPr lang="en" sz="1050">
                <a:solidFill>
                  <a:srgbClr val="C41A16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":8080"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AA0D91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nil</a:t>
            </a: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242424"/>
              </a:solidFill>
              <a:highlight>
                <a:srgbClr val="F9F9F9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42424"/>
                </a:solidFill>
                <a:highlight>
                  <a:srgbClr val="F9F9F9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7"/>
          <p:cNvSpPr txBox="1"/>
          <p:nvPr>
            <p:ph type="title"/>
          </p:nvPr>
        </p:nvSpPr>
        <p:spPr>
          <a:xfrm>
            <a:off x="228600" y="613525"/>
            <a:ext cx="3904500" cy="537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77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77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77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77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77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3" name="Google Shape;64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50" y="647688"/>
            <a:ext cx="9119500" cy="3837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78"/>
          <p:cNvSpPr txBox="1"/>
          <p:nvPr>
            <p:ph type="title"/>
          </p:nvPr>
        </p:nvSpPr>
        <p:spPr>
          <a:xfrm>
            <a:off x="228600" y="613525"/>
            <a:ext cx="4634100" cy="98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Як вони пов'язані та можуть бути поєднані</a:t>
            </a:r>
            <a:endParaRPr/>
          </a:p>
        </p:txBody>
      </p:sp>
      <p:sp>
        <p:nvSpPr>
          <p:cNvPr id="649" name="Google Shape;649;p78"/>
          <p:cNvSpPr txBox="1"/>
          <p:nvPr/>
        </p:nvSpPr>
        <p:spPr>
          <a:xfrm>
            <a:off x="262350" y="1580275"/>
            <a:ext cx="43566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REST + GraphQL: REST для простих CRUD та GraphQL для складних запитів.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gRPC + WebSockets: gRPC для викликів між сервісами та WebSockets для оновлень клієнта в режимі реального часу.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REST + WebSockets: REST для викликів API, WebSockets для сповіщень.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650" name="Google Shape;650;p78"/>
          <p:cNvPicPr preferRelativeResize="0"/>
          <p:nvPr/>
        </p:nvPicPr>
        <p:blipFill rotWithShape="1">
          <a:blip r:embed="rId3">
            <a:alphaModFix/>
          </a:blip>
          <a:srcRect b="16867" l="0" r="0" t="0"/>
          <a:stretch/>
        </p:blipFill>
        <p:spPr>
          <a:xfrm>
            <a:off x="1143000" y="3337800"/>
            <a:ext cx="6858000" cy="9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79"/>
          <p:cNvSpPr txBox="1"/>
          <p:nvPr>
            <p:ph type="title"/>
          </p:nvPr>
        </p:nvSpPr>
        <p:spPr>
          <a:xfrm>
            <a:off x="683350" y="756575"/>
            <a:ext cx="7889100" cy="374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REST – простота та широка сумісність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GraphQL – коли потрібні гнучкі дані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gRPC – внутрішні системи, де продуктивність є критично важливою</a:t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/>
              <a:t>WebSockets – взаємодія клієнт-сервер у режимі реального часу</a:t>
            </a:r>
            <a:endParaRPr sz="3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1D243EF2E7C5548AF556C71036F0C98" ma:contentTypeVersion="7" ma:contentTypeDescription="Створення нового документа." ma:contentTypeScope="" ma:versionID="c1e7a70764e9deedbdf50c70e6e709c0">
  <xsd:schema xmlns:xsd="http://www.w3.org/2001/XMLSchema" xmlns:xs="http://www.w3.org/2001/XMLSchema" xmlns:p="http://schemas.microsoft.com/office/2006/metadata/properties" xmlns:ns2="8788ac0d-bd65-485f-9874-924f473dfe46" targetNamespace="http://schemas.microsoft.com/office/2006/metadata/properties" ma:root="true" ma:fieldsID="6f7e47f6259d727c285f800551ed2231" ns2:_="">
    <xsd:import namespace="8788ac0d-bd65-485f-9874-924f473dfe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88ac0d-bd65-485f-9874-924f473dfe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вмісту"/>
        <xsd:element ref="dc:title" minOccurs="0" maxOccurs="1" ma:index="4" ma:displayName="Заголовок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40A8FA9-880A-45F8-BE03-7FD26AEC7F6B}"/>
</file>

<file path=customXml/itemProps2.xml><?xml version="1.0" encoding="utf-8"?>
<ds:datastoreItem xmlns:ds="http://schemas.openxmlformats.org/officeDocument/2006/customXml" ds:itemID="{A0439BF0-EB53-454C-94DD-A7D9DB4383D6}"/>
</file>

<file path=customXml/itemProps3.xml><?xml version="1.0" encoding="utf-8"?>
<ds:datastoreItem xmlns:ds="http://schemas.openxmlformats.org/officeDocument/2006/customXml" ds:itemID="{86EB9EBE-2400-4DC8-859D-B0EAE233BA3E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0x010100C1D243EF2E7C5548AF556C71036F0C98</vt:lpwstr>
  </property>
</Properties>
</file>